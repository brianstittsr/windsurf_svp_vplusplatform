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0" y="1371600"/>
            <a:ext cx="3657600" cy="457200"/>
          </a:xfrm>
          <a:prstGeom prst="rect">
            <a:avLst/>
          </a:prstGeom>
          <a:solidFill>
            <a:srgbClr val="F5A623">
              <a:alpha val="50000"/>
            </a:srgbClr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BELPAK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201168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A365D"/>
                </a:solidFill>
              </a:rPr>
              <a:t>Toyota Battery Manufacturing NC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5029200" y="2834640"/>
            <a:ext cx="1828800" cy="7315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30175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A5568"/>
                </a:solidFill>
              </a:rPr>
              <a:t>Supplier Qualification Brief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914400" y="41148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18096"/>
                </a:solidFill>
              </a:rPr>
              <a:t>Prepared by Strategic Value+ Solutions | December 2025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45720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A623"/>
                </a:solidFill>
              </a:rPr>
              <a:t>V</a:t>
            </a:r>
            <a:pPr indent="0" marL="0">
              <a:buNone/>
            </a:pPr>
            <a:r>
              <a:rPr lang="en-US" sz="1400" b="1" baseline="30000" dirty="0">
                <a:solidFill>
                  <a:srgbClr val="F5A623"/>
                </a:solidFill>
              </a:rPr>
              <a:t>+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822960" y="45720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36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Strategic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36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Value+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515600" y="4572000"/>
            <a:ext cx="914400" cy="320040"/>
          </a:xfrm>
          <a:prstGeom prst="rect">
            <a:avLst/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BELPAK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1155680" y="45720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365D"/>
                </a:solidFill>
              </a:rPr>
              <a:t>BelPak's embedded operations model positions them as a potential Toyota Battery NC packaging &amp; logistics partner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5303520" cy="2011680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0584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65D"/>
                </a:solidFill>
              </a:rPr>
              <a:t>🎯 The Opportunity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371600"/>
            <a:ext cx="49377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</a:rPr>
              <a:t>• Contract packaging and logistics services
</a:t>
            </a:r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</a:rPr>
              <a:t>• Embedded operations model proven with Subaru
</a:t>
            </a:r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</a:rPr>
              <a:t>• MBE certification supports Toyota diversity goals
</a:t>
            </a:r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</a:rPr>
              <a:t>• 25+ facilities with national coverage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943600" y="914400"/>
            <a:ext cx="5303520" cy="2011680"/>
          </a:xfrm>
          <a:prstGeom prst="rect">
            <a:avLst/>
          </a:prstGeom>
          <a:solidFill>
            <a:srgbClr val="FFF5EB"/>
          </a:solidFill>
          <a:ln/>
        </p:spPr>
      </p:sp>
      <p:sp>
        <p:nvSpPr>
          <p:cNvPr id="8" name="Text 6"/>
          <p:cNvSpPr/>
          <p:nvPr/>
        </p:nvSpPr>
        <p:spPr>
          <a:xfrm>
            <a:off x="6126480" y="100584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D8936"/>
                </a:solidFill>
              </a:rPr>
              <a:t>⚠️ Key Gaps to Address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126480" y="1371600"/>
            <a:ext cx="49377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</a:rPr>
              <a:t>• No hazmat experience - critical for battery handling
</a:t>
            </a:r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</a:rPr>
              <a:t>• ISO 9001/IATF 16949 certifications required
</a:t>
            </a:r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</a:rPr>
              <a:t>• Battery packaging expertise needs development
</a:t>
            </a:r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</a:rPr>
              <a:t>• Toyota interest in outsourcing not yet confirmed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3108960"/>
            <a:ext cx="10789920" cy="731520"/>
          </a:xfrm>
          <a:prstGeom prst="rect">
            <a:avLst/>
          </a:prstGeom>
          <a:solidFill>
            <a:srgbClr val="FFF5EB"/>
          </a:solidFill>
          <a:ln/>
        </p:spPr>
      </p:sp>
      <p:sp>
        <p:nvSpPr>
          <p:cNvPr id="11" name="Shape 9"/>
          <p:cNvSpPr/>
          <p:nvPr/>
        </p:nvSpPr>
        <p:spPr>
          <a:xfrm>
            <a:off x="457200" y="3108960"/>
            <a:ext cx="45720" cy="731520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154680"/>
            <a:ext cx="10424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D8936"/>
                </a:solidFill>
              </a:rPr>
              <a:t>Critical Question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338328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</a:rPr>
              <a:t>Does Toyota intend to outsource packaging &amp; logistics? This must be validated before proceeding.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45720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A623"/>
                </a:solidFill>
              </a:rPr>
              <a:t>V</a:t>
            </a:r>
            <a:pPr indent="0" marL="0">
              <a:buNone/>
            </a:pPr>
            <a:r>
              <a:rPr lang="en-US" sz="1400" b="1" baseline="30000" dirty="0">
                <a:solidFill>
                  <a:srgbClr val="F5A623"/>
                </a:solidFill>
              </a:rPr>
              <a:t>+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822960" y="45720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36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Strategic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36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Value+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515600" y="4572000"/>
            <a:ext cx="914400" cy="320040"/>
          </a:xfrm>
          <a:prstGeom prst="rect">
            <a:avLst/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BELPAK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155680" y="45720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365D"/>
                </a:solidFill>
              </a:rPr>
              <a:t>BelPak brings 25+ facilities, 1,000 employees, and proven OEM experience with Subaru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2560320" cy="1097280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0584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A365D"/>
                </a:solidFill>
              </a:rPr>
              <a:t>25+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</a:rPr>
              <a:t>Facilities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0" y="914400"/>
            <a:ext cx="2560320" cy="1097280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8" name="Text 6"/>
          <p:cNvSpPr/>
          <p:nvPr/>
        </p:nvSpPr>
        <p:spPr>
          <a:xfrm>
            <a:off x="3200400" y="100584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A365D"/>
                </a:solidFill>
              </a:rPr>
              <a:t>1,000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3200400" y="15544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</a:rPr>
              <a:t>Employees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943600" y="914400"/>
            <a:ext cx="2560320" cy="1097280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0" y="100584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A365D"/>
                </a:solidFill>
              </a:rPr>
              <a:t>99.6%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5943600" y="15544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</a:rPr>
              <a:t>OTIF Rate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686800" y="914400"/>
            <a:ext cx="2560320" cy="1097280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0" y="100584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A365D"/>
                </a:solidFill>
              </a:rPr>
              <a:t>45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8686800" y="15544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</a:rPr>
              <a:t>Day Standup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2194560"/>
            <a:ext cx="5303520" cy="1828800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228600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65D"/>
                </a:solidFill>
              </a:rPr>
              <a:t>📍 Company Profile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0080" y="2606040"/>
            <a:ext cx="49377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</a:rPr>
              <a:t>Founded: 1989 (30+ years)
</a:t>
            </a:r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</a:rPr>
              <a:t>Headquarters: Indianapolis, IN
</a:t>
            </a:r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</a:rPr>
              <a:t>Revenue: ~$400M (estimated)
</a:t>
            </a:r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</a:rPr>
              <a:t>Ownership: Red Arts Capital (PE)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943600" y="2194560"/>
            <a:ext cx="5303520" cy="1828800"/>
          </a:xfrm>
          <a:prstGeom prst="rect">
            <a:avLst/>
          </a:prstGeom>
          <a:solidFill>
            <a:srgbClr val="FFF5EB"/>
          </a:solidFill>
          <a:ln/>
        </p:spPr>
      </p:sp>
      <p:sp>
        <p:nvSpPr>
          <p:cNvPr id="20" name="Text 18"/>
          <p:cNvSpPr/>
          <p:nvPr/>
        </p:nvSpPr>
        <p:spPr>
          <a:xfrm>
            <a:off x="6126480" y="228600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D8936"/>
                </a:solidFill>
              </a:rPr>
              <a:t>❓ Questions to Clarify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126480" y="2606040"/>
            <a:ext cx="49377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</a:rPr>
              <a:t>Subaru Relationship: Which entity? Location?
</a:t>
            </a:r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</a:rPr>
              <a:t>Legacy Companies: 8 acquisitions - which ones?
</a:t>
            </a:r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</a:rPr>
              <a:t>Certifications: Current ISO/IATF status?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45720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A623"/>
                </a:solidFill>
              </a:rPr>
              <a:t>V</a:t>
            </a:r>
            <a:pPr indent="0" marL="0">
              <a:buNone/>
            </a:pPr>
            <a:r>
              <a:rPr lang="en-US" sz="1400" b="1" baseline="30000" dirty="0">
                <a:solidFill>
                  <a:srgbClr val="F5A623"/>
                </a:solidFill>
              </a:rPr>
              <a:t>+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822960" y="45720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36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Strategic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36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Value+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515600" y="4572000"/>
            <a:ext cx="914400" cy="320040"/>
          </a:xfrm>
          <a:prstGeom prst="rect">
            <a:avLst/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BELPAK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1155680" y="45720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365D"/>
                </a:solidFill>
              </a:rPr>
              <a:t>BelPak's Subaru relationship demonstrates their embedded operations capability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5303520" cy="2286000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0584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A169"/>
                </a:solidFill>
              </a:rPr>
              <a:t>✅ What We Know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371600"/>
            <a:ext cx="49377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</a:rPr>
              <a:t>• Operates inside Subaru facility
</a:t>
            </a:r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</a:rPr>
              <a:t>• Manages packaging &amp; logistics
</a:t>
            </a:r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</a:rPr>
              <a:t>• Long-term relationship
</a:t>
            </a:r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</a:rPr>
              <a:t>• Proven embedded model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943600" y="914400"/>
            <a:ext cx="5303520" cy="2286000"/>
          </a:xfrm>
          <a:prstGeom prst="rect">
            <a:avLst/>
          </a:prstGeom>
          <a:solidFill>
            <a:srgbClr val="FFF5EB"/>
          </a:solidFill>
          <a:ln/>
        </p:spPr>
      </p:sp>
      <p:sp>
        <p:nvSpPr>
          <p:cNvPr id="8" name="Text 6"/>
          <p:cNvSpPr/>
          <p:nvPr/>
        </p:nvSpPr>
        <p:spPr>
          <a:xfrm>
            <a:off x="6126480" y="100584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D8936"/>
                </a:solidFill>
              </a:rPr>
              <a:t>❓ What We Need to Learn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126480" y="1371600"/>
            <a:ext cx="49377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</a:rPr>
              <a:t>• Which legacy company serves Subaru?
</a:t>
            </a:r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</a:rPr>
              <a:t>• What certifications does that entity hold?
</a:t>
            </a:r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</a:rPr>
              <a:t>• Contract structure and scope?
</a:t>
            </a:r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</a:rPr>
              <a:t>• Lessons learned for Toyota?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3383280"/>
            <a:ext cx="10789920" cy="640080"/>
          </a:xfrm>
          <a:prstGeom prst="rect">
            <a:avLst/>
          </a:prstGeom>
          <a:solidFill>
            <a:srgbClr val="FFF5EB"/>
          </a:solidFill>
          <a:ln/>
        </p:spPr>
      </p:sp>
      <p:sp>
        <p:nvSpPr>
          <p:cNvPr id="11" name="Shape 9"/>
          <p:cNvSpPr/>
          <p:nvPr/>
        </p:nvSpPr>
        <p:spPr>
          <a:xfrm>
            <a:off x="457200" y="3383280"/>
            <a:ext cx="45720" cy="640080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429000"/>
            <a:ext cx="10424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D8936"/>
                </a:solidFill>
              </a:rPr>
              <a:t>Key Question for BelPak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3657600"/>
            <a:ext cx="10424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</a:rPr>
              <a:t>Which legacy company serves Subaru? This may be the best candidate for Toyota certification.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45720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A623"/>
                </a:solidFill>
              </a:rPr>
              <a:t>V</a:t>
            </a:r>
            <a:pPr indent="0" marL="0">
              <a:buNone/>
            </a:pPr>
            <a:r>
              <a:rPr lang="en-US" sz="1400" b="1" baseline="30000" dirty="0">
                <a:solidFill>
                  <a:srgbClr val="F5A623"/>
                </a:solidFill>
              </a:rPr>
              <a:t>+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822960" y="45720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36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Strategic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36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Value+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515600" y="4572000"/>
            <a:ext cx="914400" cy="320040"/>
          </a:xfrm>
          <a:prstGeom prst="rect">
            <a:avLst/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BELPAK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155680" y="45720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365D"/>
                </a:solidFill>
              </a:rPr>
              <a:t>Toyota Battery NC presents multiple service opportunities for BelPak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5303520" cy="2103120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0584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A169"/>
                </a:solidFill>
              </a:rPr>
              <a:t>📦 Core Services (Strong Fit)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371600"/>
            <a:ext cx="49377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</a:rPr>
              <a:t>✓ Contract packaging
</a:t>
            </a:r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</a:rPr>
              <a:t>✓ Kitting and assembly
</a:t>
            </a:r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</a:rPr>
              <a:t>✓ Warehouse management
</a:t>
            </a:r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</a:rPr>
              <a:t>✓ Logistics coordination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943600" y="914400"/>
            <a:ext cx="5303520" cy="2103120"/>
          </a:xfrm>
          <a:prstGeom prst="rect">
            <a:avLst/>
          </a:prstGeom>
          <a:solidFill>
            <a:srgbClr val="FFF5EB"/>
          </a:solidFill>
          <a:ln/>
        </p:spPr>
      </p:sp>
      <p:sp>
        <p:nvSpPr>
          <p:cNvPr id="8" name="Text 6"/>
          <p:cNvSpPr/>
          <p:nvPr/>
        </p:nvSpPr>
        <p:spPr>
          <a:xfrm>
            <a:off x="6126480" y="100584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D8936"/>
                </a:solidFill>
              </a:rPr>
              <a:t>🔋 Stretch Services (Gaps Exist)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126480" y="1371600"/>
            <a:ext cx="49377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</a:rPr>
              <a:t>⚠ Battery module packaging (hazmat)
</a:t>
            </a:r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</a:rPr>
              <a:t>⚠ Specialized handling equipment
</a:t>
            </a:r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</a:rPr>
              <a:t>⚠ EV-specific certifications
</a:t>
            </a:r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</a:rPr>
              <a:t>⚠ Temperature-controlled logistics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3200400"/>
            <a:ext cx="10789920" cy="731520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11" name="Shape 9"/>
          <p:cNvSpPr/>
          <p:nvPr/>
        </p:nvSpPr>
        <p:spPr>
          <a:xfrm>
            <a:off x="457200" y="3200400"/>
            <a:ext cx="45720" cy="73152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246120"/>
            <a:ext cx="10424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</a:rPr>
              <a:t>Strategic Question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3520440"/>
            <a:ext cx="10424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</a:rPr>
              <a:t>Does BelPak want to enter the hazmat business? This is a significant capability investment.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45720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A623"/>
                </a:solidFill>
              </a:rPr>
              <a:t>V</a:t>
            </a:r>
            <a:pPr indent="0" marL="0">
              <a:buNone/>
            </a:pPr>
            <a:r>
              <a:rPr lang="en-US" sz="1400" b="1" baseline="30000" dirty="0">
                <a:solidFill>
                  <a:srgbClr val="F5A623"/>
                </a:solidFill>
              </a:rPr>
              <a:t>+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822960" y="45720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36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Strategic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36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Value+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515600" y="4572000"/>
            <a:ext cx="914400" cy="320040"/>
          </a:xfrm>
          <a:prstGeom prst="rect">
            <a:avLst/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BELPAK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155680" y="45720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365D"/>
                </a:solidFill>
              </a:rPr>
              <a:t>Toyota supplier qualification requires ISO 9001 and IATF 16949 certifications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2651760" cy="365760"/>
          </a:xfrm>
          <a:prstGeom prst="rect">
            <a:avLst/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Certification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200400" y="914400"/>
            <a:ext cx="2651760" cy="365760"/>
          </a:xfrm>
          <a:prstGeom prst="rect">
            <a:avLst/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Timeline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943600" y="914400"/>
            <a:ext cx="2651760" cy="365760"/>
          </a:xfrm>
          <a:prstGeom prst="rect">
            <a:avLst/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Investment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686800" y="914400"/>
            <a:ext cx="2651760" cy="365760"/>
          </a:xfrm>
          <a:prstGeom prst="rect">
            <a:avLst/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Status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325880"/>
            <a:ext cx="2651760" cy="36576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3748"/>
                </a:solidFill>
              </a:rPr>
              <a:t>ISO 9001:2015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00400" y="1325880"/>
            <a:ext cx="2651760" cy="36576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3748"/>
                </a:solidFill>
              </a:rPr>
              <a:t>9-12 months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0" y="1325880"/>
            <a:ext cx="2651760" cy="36576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3748"/>
                </a:solidFill>
              </a:rPr>
              <a:t>$50-75K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686800" y="1325880"/>
            <a:ext cx="2651760" cy="36576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3748"/>
                </a:solidFill>
              </a:rPr>
              <a:t>Required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1737360"/>
            <a:ext cx="2651760" cy="365760"/>
          </a:xfrm>
          <a:prstGeom prst="rect">
            <a:avLst/>
          </a:prstGeom>
          <a:solidFill>
            <a:srgbClr val="EDF2F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3748"/>
                </a:solidFill>
              </a:rPr>
              <a:t>IATF 16949:2016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200400" y="1737360"/>
            <a:ext cx="2651760" cy="365760"/>
          </a:xfrm>
          <a:prstGeom prst="rect">
            <a:avLst/>
          </a:prstGeom>
          <a:solidFill>
            <a:srgbClr val="EDF2F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3748"/>
                </a:solidFill>
              </a:rPr>
              <a:t>12-18 months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943600" y="1737360"/>
            <a:ext cx="2651760" cy="365760"/>
          </a:xfrm>
          <a:prstGeom prst="rect">
            <a:avLst/>
          </a:prstGeom>
          <a:solidFill>
            <a:srgbClr val="EDF2F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3748"/>
                </a:solidFill>
              </a:rPr>
              <a:t>$100-150K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686800" y="1737360"/>
            <a:ext cx="2651760" cy="365760"/>
          </a:xfrm>
          <a:prstGeom prst="rect">
            <a:avLst/>
          </a:prstGeom>
          <a:solidFill>
            <a:srgbClr val="EDF2F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3748"/>
                </a:solidFill>
              </a:rPr>
              <a:t>Required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2148840"/>
            <a:ext cx="2651760" cy="36576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3748"/>
                </a:solidFill>
              </a:rPr>
              <a:t>Hazmat (if needed)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200400" y="2148840"/>
            <a:ext cx="2651760" cy="36576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3748"/>
                </a:solidFill>
              </a:rPr>
              <a:t>6-9 months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943600" y="2148840"/>
            <a:ext cx="2651760" cy="36576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3748"/>
                </a:solidFill>
              </a:rPr>
              <a:t>$25-50K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686800" y="2148840"/>
            <a:ext cx="2651760" cy="36576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3748"/>
                </a:solidFill>
              </a:rPr>
              <a:t>TBD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2560320"/>
            <a:ext cx="2651760" cy="365760"/>
          </a:xfrm>
          <a:prstGeom prst="rect">
            <a:avLst/>
          </a:prstGeom>
          <a:solidFill>
            <a:srgbClr val="EDF2F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3748"/>
                </a:solidFill>
              </a:rPr>
              <a:t>ESG/Sustainability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200400" y="2560320"/>
            <a:ext cx="2651760" cy="365760"/>
          </a:xfrm>
          <a:prstGeom prst="rect">
            <a:avLst/>
          </a:prstGeom>
          <a:solidFill>
            <a:srgbClr val="EDF2F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3748"/>
                </a:solidFill>
              </a:rPr>
              <a:t>3-6 months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943600" y="2560320"/>
            <a:ext cx="2651760" cy="365760"/>
          </a:xfrm>
          <a:prstGeom prst="rect">
            <a:avLst/>
          </a:prstGeom>
          <a:solidFill>
            <a:srgbClr val="EDF2F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3748"/>
                </a:solidFill>
              </a:rPr>
              <a:t>$15-25K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686800" y="2560320"/>
            <a:ext cx="2651760" cy="365760"/>
          </a:xfrm>
          <a:prstGeom prst="rect">
            <a:avLst/>
          </a:prstGeom>
          <a:solidFill>
            <a:srgbClr val="EDF2F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3748"/>
                </a:solidFill>
              </a:rPr>
              <a:t>Recommended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3108960"/>
            <a:ext cx="10789920" cy="914400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3200400"/>
            <a:ext cx="10424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65D"/>
                </a:solidFill>
              </a:rPr>
              <a:t>❓ Key Considerations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40080" y="3474720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</a:rPr>
              <a:t>• How many facilities? Strategic decision for BelPak
</a:t>
            </a:r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</a:rPr>
              <a:t>• Proximity to Toyota is key factor
</a:t>
            </a:r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</a:rPr>
              <a:t>• 6 months just to schedule Stage 1 audit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57200" y="45720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A623"/>
                </a:solidFill>
              </a:rPr>
              <a:t>V</a:t>
            </a:r>
            <a:pPr indent="0" marL="0">
              <a:buNone/>
            </a:pPr>
            <a:r>
              <a:rPr lang="en-US" sz="1400" b="1" baseline="30000" dirty="0">
                <a:solidFill>
                  <a:srgbClr val="F5A623"/>
                </a:solidFill>
              </a:rPr>
              <a:t>+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822960" y="45720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36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Strategic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36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Value+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0515600" y="4572000"/>
            <a:ext cx="914400" cy="320040"/>
          </a:xfrm>
          <a:prstGeom prst="rect">
            <a:avLst/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BELPAK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1155680" y="45720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365D"/>
                </a:solidFill>
              </a:rPr>
              <a:t>A phased approach allows BelPak to validate opportunity before major investment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3474720" cy="228600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058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Phase 0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2801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Discovery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4-6 weeks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1828800"/>
            <a:ext cx="3108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• Toyota interest validation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• Facility assessment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• Gap analysis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114800" y="914400"/>
            <a:ext cx="3474720" cy="2286000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10" name="Text 8"/>
          <p:cNvSpPr/>
          <p:nvPr/>
        </p:nvSpPr>
        <p:spPr>
          <a:xfrm>
            <a:off x="4114800" y="10058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365D"/>
                </a:solidFill>
              </a:rPr>
              <a:t>Phase 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114800" y="12801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365D"/>
                </a:solidFill>
              </a:rPr>
              <a:t>Foundation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114800" y="155448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6-9 months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297680" y="1828800"/>
            <a:ext cx="3108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</a:rPr>
              <a:t>• ISO 9001 certification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</a:rPr>
              <a:t>• Process documentation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</a:rPr>
              <a:t>• Training program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772400" y="914400"/>
            <a:ext cx="3474720" cy="2286000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0" y="10058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365D"/>
                </a:solidFill>
              </a:rPr>
              <a:t>Phase 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772400" y="12801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365D"/>
                </a:solidFill>
              </a:rPr>
              <a:t>Automotive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772400" y="155448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12-18 months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955280" y="1828800"/>
            <a:ext cx="3108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</a:rPr>
              <a:t>• IATF 16949 certification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</a:rPr>
              <a:t>• Toyota qualification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</a:rPr>
              <a:t>• Pilot program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3383280"/>
            <a:ext cx="10789920" cy="731520"/>
          </a:xfrm>
          <a:prstGeom prst="rect">
            <a:avLst/>
          </a:prstGeom>
          <a:solidFill>
            <a:srgbClr val="FFF5EB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3429000"/>
            <a:ext cx="10424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D8936"/>
                </a:solidFill>
              </a:rPr>
              <a:t>Key Decisions for BelPak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0080" y="3657600"/>
            <a:ext cx="10424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</a:rPr>
              <a:t>Which facility? How many sites? Hazmat investment? Subaru synergy?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" y="45720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A623"/>
                </a:solidFill>
              </a:rPr>
              <a:t>V</a:t>
            </a:r>
            <a:pPr indent="0" marL="0">
              <a:buNone/>
            </a:pPr>
            <a:r>
              <a:rPr lang="en-US" sz="1400" b="1" baseline="30000" dirty="0">
                <a:solidFill>
                  <a:srgbClr val="F5A623"/>
                </a:solidFill>
              </a:rPr>
              <a:t>+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822960" y="45720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36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Strategic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36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Value+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515600" y="4572000"/>
            <a:ext cx="914400" cy="320040"/>
          </a:xfrm>
          <a:prstGeom prst="rect">
            <a:avLst/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BELPAK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1155680" y="45720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365D"/>
                </a:solidFill>
              </a:rPr>
              <a:t>Total investment for Toyota qualification ranges from $200K-$400K over 18-24 months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2651760" cy="347472"/>
          </a:xfrm>
          <a:prstGeom prst="rect">
            <a:avLst/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Category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200400" y="914400"/>
            <a:ext cx="2651760" cy="347472"/>
          </a:xfrm>
          <a:prstGeom prst="rect">
            <a:avLst/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Low Estimate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943600" y="914400"/>
            <a:ext cx="2651760" cy="347472"/>
          </a:xfrm>
          <a:prstGeom prst="rect">
            <a:avLst/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High Estimate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686800" y="914400"/>
            <a:ext cx="2651760" cy="347472"/>
          </a:xfrm>
          <a:prstGeom prst="rect">
            <a:avLst/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Notes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280160"/>
            <a:ext cx="2651760" cy="34747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D3748"/>
                </a:solidFill>
              </a:rPr>
              <a:t>ISO 9001 Certification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200400" y="1280160"/>
            <a:ext cx="2651760" cy="34747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3748"/>
                </a:solidFill>
              </a:rPr>
              <a:t>$50K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943600" y="1280160"/>
            <a:ext cx="2651760" cy="34747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3748"/>
                </a:solidFill>
              </a:rPr>
              <a:t>$75K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686800" y="1280160"/>
            <a:ext cx="2651760" cy="34747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3748"/>
                </a:solidFill>
              </a:rPr>
              <a:t>9-12 months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1645920"/>
            <a:ext cx="2651760" cy="347472"/>
          </a:xfrm>
          <a:prstGeom prst="rect">
            <a:avLst/>
          </a:prstGeom>
          <a:solidFill>
            <a:srgbClr val="EDF2F7"/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D3748"/>
                </a:solidFill>
              </a:rPr>
              <a:t>IATF 16949 Certification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200400" y="1645920"/>
            <a:ext cx="2651760" cy="347472"/>
          </a:xfrm>
          <a:prstGeom prst="rect">
            <a:avLst/>
          </a:prstGeom>
          <a:solidFill>
            <a:srgbClr val="EDF2F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3748"/>
                </a:solidFill>
              </a:rPr>
              <a:t>$100K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943600" y="1645920"/>
            <a:ext cx="2651760" cy="347472"/>
          </a:xfrm>
          <a:prstGeom prst="rect">
            <a:avLst/>
          </a:prstGeom>
          <a:solidFill>
            <a:srgbClr val="EDF2F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3748"/>
                </a:solidFill>
              </a:rPr>
              <a:t>$150K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686800" y="1645920"/>
            <a:ext cx="2651760" cy="347472"/>
          </a:xfrm>
          <a:prstGeom prst="rect">
            <a:avLst/>
          </a:prstGeom>
          <a:solidFill>
            <a:srgbClr val="EDF2F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3748"/>
                </a:solidFill>
              </a:rPr>
              <a:t>12-18 months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2011680"/>
            <a:ext cx="2651760" cy="34747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D3748"/>
                </a:solidFill>
              </a:rPr>
              <a:t>Consulting &amp; Support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200400" y="2011680"/>
            <a:ext cx="2651760" cy="34747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3748"/>
                </a:solidFill>
              </a:rPr>
              <a:t>$30K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943600" y="2011680"/>
            <a:ext cx="2651760" cy="34747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3748"/>
                </a:solidFill>
              </a:rPr>
              <a:t>$50K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686800" y="2011680"/>
            <a:ext cx="2651760" cy="34747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3748"/>
                </a:solidFill>
              </a:rPr>
              <a:t>SV+ engagement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2377440"/>
            <a:ext cx="2651760" cy="347472"/>
          </a:xfrm>
          <a:prstGeom prst="rect">
            <a:avLst/>
          </a:prstGeom>
          <a:solidFill>
            <a:srgbClr val="EDF2F7"/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D3748"/>
                </a:solidFill>
              </a:rPr>
              <a:t>Training &amp; Development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200400" y="2377440"/>
            <a:ext cx="2651760" cy="347472"/>
          </a:xfrm>
          <a:prstGeom prst="rect">
            <a:avLst/>
          </a:prstGeom>
          <a:solidFill>
            <a:srgbClr val="EDF2F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3748"/>
                </a:solidFill>
              </a:rPr>
              <a:t>$20K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943600" y="2377440"/>
            <a:ext cx="2651760" cy="347472"/>
          </a:xfrm>
          <a:prstGeom prst="rect">
            <a:avLst/>
          </a:prstGeom>
          <a:solidFill>
            <a:srgbClr val="EDF2F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3748"/>
                </a:solidFill>
              </a:rPr>
              <a:t>$40K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686800" y="2377440"/>
            <a:ext cx="2651760" cy="347472"/>
          </a:xfrm>
          <a:prstGeom prst="rect">
            <a:avLst/>
          </a:prstGeom>
          <a:solidFill>
            <a:srgbClr val="EDF2F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3748"/>
                </a:solidFill>
              </a:rPr>
              <a:t>Staff certification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" y="2743200"/>
            <a:ext cx="2651760" cy="34747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D3748"/>
                </a:solidFill>
              </a:rPr>
              <a:t>Hazmat (if applicable)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200400" y="2743200"/>
            <a:ext cx="2651760" cy="34747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3748"/>
                </a:solidFill>
              </a:rPr>
              <a:t>$25K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943600" y="2743200"/>
            <a:ext cx="2651760" cy="34747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3748"/>
                </a:solidFill>
              </a:rPr>
              <a:t>$50K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686800" y="2743200"/>
            <a:ext cx="2651760" cy="34747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3748"/>
                </a:solidFill>
              </a:rPr>
              <a:t>Optional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7200" y="3108960"/>
            <a:ext cx="2651760" cy="347472"/>
          </a:xfrm>
          <a:prstGeom prst="rect">
            <a:avLst/>
          </a:prstGeom>
          <a:solidFill>
            <a:srgbClr val="F5A623"/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365D"/>
                </a:solidFill>
              </a:rPr>
              <a:t>TOTAL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200400" y="3108960"/>
            <a:ext cx="2651760" cy="347472"/>
          </a:xfrm>
          <a:prstGeom prst="rect">
            <a:avLst/>
          </a:prstGeom>
          <a:solidFill>
            <a:srgbClr val="F5A623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365D"/>
                </a:solidFill>
              </a:rPr>
              <a:t>$225K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943600" y="3108960"/>
            <a:ext cx="2651760" cy="347472"/>
          </a:xfrm>
          <a:prstGeom prst="rect">
            <a:avLst/>
          </a:prstGeom>
          <a:solidFill>
            <a:srgbClr val="F5A623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365D"/>
                </a:solidFill>
              </a:rPr>
              <a:t>$365K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8686800" y="3108960"/>
            <a:ext cx="2651760" cy="347472"/>
          </a:xfrm>
          <a:prstGeom prst="rect">
            <a:avLst/>
          </a:prstGeom>
          <a:solidFill>
            <a:srgbClr val="F5A623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365D"/>
                </a:solidFill>
              </a:rPr>
              <a:t>18-24 months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57200" y="3566160"/>
            <a:ext cx="10789920" cy="548640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33" name="Text 31"/>
          <p:cNvSpPr/>
          <p:nvPr/>
        </p:nvSpPr>
        <p:spPr>
          <a:xfrm>
            <a:off x="640080" y="365760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</a:rPr>
              <a:t>Important Notes: Final pricing requires Phase 0 discovery. Additional facilities would add incremental cost.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57200" y="45720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A623"/>
                </a:solidFill>
              </a:rPr>
              <a:t>V</a:t>
            </a:r>
            <a:pPr indent="0" marL="0">
              <a:buNone/>
            </a:pPr>
            <a:r>
              <a:rPr lang="en-US" sz="1400" b="1" baseline="30000" dirty="0">
                <a:solidFill>
                  <a:srgbClr val="F5A623"/>
                </a:solidFill>
              </a:rPr>
              <a:t>+</a:t>
            </a:r>
            <a:endParaRPr lang="en-US" sz="2400" dirty="0"/>
          </a:p>
        </p:txBody>
      </p:sp>
      <p:sp>
        <p:nvSpPr>
          <p:cNvPr id="35" name="Text 33"/>
          <p:cNvSpPr/>
          <p:nvPr/>
        </p:nvSpPr>
        <p:spPr>
          <a:xfrm>
            <a:off x="822960" y="45720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36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Strategic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36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Value+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515600" y="4572000"/>
            <a:ext cx="914400" cy="320040"/>
          </a:xfrm>
          <a:prstGeom prst="rect">
            <a:avLst/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BELPAK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11155680" y="45720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365D"/>
                </a:solidFill>
              </a:rPr>
              <a:t>Several critical risks must be addressed before proceeding with Toyota qualification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2651760" cy="365760"/>
          </a:xfrm>
          <a:prstGeom prst="rect">
            <a:avLst/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Risk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200400" y="914400"/>
            <a:ext cx="2651760" cy="365760"/>
          </a:xfrm>
          <a:prstGeom prst="rect">
            <a:avLst/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Impact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943600" y="914400"/>
            <a:ext cx="2651760" cy="365760"/>
          </a:xfrm>
          <a:prstGeom prst="rect">
            <a:avLst/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Likelihood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686800" y="914400"/>
            <a:ext cx="2651760" cy="365760"/>
          </a:xfrm>
          <a:prstGeom prst="rect">
            <a:avLst/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Mitigation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325880"/>
            <a:ext cx="2651760" cy="36576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3748"/>
                </a:solidFill>
              </a:rPr>
              <a:t>Toyota not outsourcing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200400" y="1325880"/>
            <a:ext cx="2651760" cy="36576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53E3E"/>
                </a:solidFill>
              </a:rPr>
              <a:t>Critical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943600" y="1325880"/>
            <a:ext cx="2651760" cy="36576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3748"/>
                </a:solidFill>
              </a:rPr>
              <a:t>Unknown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686800" y="1325880"/>
            <a:ext cx="2651760" cy="36576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3748"/>
                </a:solidFill>
              </a:rPr>
              <a:t>Validate in Phase 0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1737360"/>
            <a:ext cx="2651760" cy="365760"/>
          </a:xfrm>
          <a:prstGeom prst="rect">
            <a:avLst/>
          </a:prstGeom>
          <a:solidFill>
            <a:srgbClr val="EDF2F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3748"/>
                </a:solidFill>
              </a:rPr>
              <a:t>No hazmat experience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200400" y="1737360"/>
            <a:ext cx="2651760" cy="365760"/>
          </a:xfrm>
          <a:prstGeom prst="rect">
            <a:avLst/>
          </a:prstGeom>
          <a:solidFill>
            <a:srgbClr val="EDF2F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D8936"/>
                </a:solidFill>
              </a:rPr>
              <a:t>High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943600" y="1737360"/>
            <a:ext cx="2651760" cy="365760"/>
          </a:xfrm>
          <a:prstGeom prst="rect">
            <a:avLst/>
          </a:prstGeom>
          <a:solidFill>
            <a:srgbClr val="EDF2F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3748"/>
                </a:solidFill>
              </a:rPr>
              <a:t>Certain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686800" y="1737360"/>
            <a:ext cx="2651760" cy="365760"/>
          </a:xfrm>
          <a:prstGeom prst="rect">
            <a:avLst/>
          </a:prstGeom>
          <a:solidFill>
            <a:srgbClr val="EDF2F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3748"/>
                </a:solidFill>
              </a:rPr>
              <a:t>Partner or develop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2148840"/>
            <a:ext cx="2651760" cy="36576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3748"/>
                </a:solidFill>
              </a:rPr>
              <a:t>Certification timeline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200400" y="2148840"/>
            <a:ext cx="2651760" cy="36576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3748"/>
                </a:solidFill>
              </a:rPr>
              <a:t>Medium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943600" y="2148840"/>
            <a:ext cx="2651760" cy="36576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3748"/>
                </a:solidFill>
              </a:rPr>
              <a:t>Medium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686800" y="2148840"/>
            <a:ext cx="2651760" cy="36576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3748"/>
                </a:solidFill>
              </a:rPr>
              <a:t>Start early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2560320"/>
            <a:ext cx="2651760" cy="365760"/>
          </a:xfrm>
          <a:prstGeom prst="rect">
            <a:avLst/>
          </a:prstGeom>
          <a:solidFill>
            <a:srgbClr val="EDF2F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3748"/>
                </a:solidFill>
              </a:rPr>
              <a:t>Resource constraints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200400" y="2560320"/>
            <a:ext cx="2651760" cy="365760"/>
          </a:xfrm>
          <a:prstGeom prst="rect">
            <a:avLst/>
          </a:prstGeom>
          <a:solidFill>
            <a:srgbClr val="EDF2F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3748"/>
                </a:solidFill>
              </a:rPr>
              <a:t>Medium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943600" y="2560320"/>
            <a:ext cx="2651760" cy="365760"/>
          </a:xfrm>
          <a:prstGeom prst="rect">
            <a:avLst/>
          </a:prstGeom>
          <a:solidFill>
            <a:srgbClr val="EDF2F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3748"/>
                </a:solidFill>
              </a:rPr>
              <a:t>Medium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686800" y="2560320"/>
            <a:ext cx="2651760" cy="365760"/>
          </a:xfrm>
          <a:prstGeom prst="rect">
            <a:avLst/>
          </a:prstGeom>
          <a:solidFill>
            <a:srgbClr val="EDF2F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3748"/>
                </a:solidFill>
              </a:rPr>
              <a:t>Dedicated team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3108960"/>
            <a:ext cx="10789920" cy="731520"/>
          </a:xfrm>
          <a:prstGeom prst="rect">
            <a:avLst/>
          </a:prstGeom>
          <a:solidFill>
            <a:srgbClr val="FFEBEB"/>
          </a:solidFill>
          <a:ln/>
        </p:spPr>
      </p:sp>
      <p:sp>
        <p:nvSpPr>
          <p:cNvPr id="25" name="Shape 23"/>
          <p:cNvSpPr/>
          <p:nvPr/>
        </p:nvSpPr>
        <p:spPr>
          <a:xfrm>
            <a:off x="457200" y="3108960"/>
            <a:ext cx="45720" cy="731520"/>
          </a:xfrm>
          <a:prstGeom prst="rect">
            <a:avLst/>
          </a:prstGeom>
          <a:solidFill>
            <a:srgbClr val="E53E3E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3154680"/>
            <a:ext cx="10424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53E3E"/>
                </a:solidFill>
              </a:rPr>
              <a:t>Biggest Risk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40080" y="342900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</a:rPr>
              <a:t>Toyota may not be interested in outsourcing. Even if they are, BelPak's lack of hazmat experience is a significant barrier.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7200" y="45720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A623"/>
                </a:solidFill>
              </a:rPr>
              <a:t>V</a:t>
            </a:r>
            <a:pPr indent="0" marL="0">
              <a:buNone/>
            </a:pPr>
            <a:r>
              <a:rPr lang="en-US" sz="1400" b="1" baseline="30000" dirty="0">
                <a:solidFill>
                  <a:srgbClr val="F5A623"/>
                </a:solidFill>
              </a:rPr>
              <a:t>+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822960" y="45720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36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Strategic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36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Value+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515600" y="4572000"/>
            <a:ext cx="914400" cy="320040"/>
          </a:xfrm>
          <a:prstGeom prst="rect">
            <a:avLst/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BELPAK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1155680" y="45720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365D"/>
                </a:solidFill>
              </a:rPr>
              <a:t>Phase 0 Discovery must answer these critical questions before proceeding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5303520" cy="2560320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0584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65D"/>
                </a:solidFill>
              </a:rPr>
              <a:t>🎯 For Toyota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371600"/>
            <a:ext cx="49377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</a:rPr>
              <a:t>• Will they outsource packaging/logistics?
</a:t>
            </a:r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</a:rPr>
              <a:t>• What certifications are required?
</a:t>
            </a:r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</a:rPr>
              <a:t>• Timeline for supplier qualification?
</a:t>
            </a:r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</a:rPr>
              <a:t>• Diversity supplier preferences?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943600" y="914400"/>
            <a:ext cx="5303520" cy="2560320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8" name="Text 6"/>
          <p:cNvSpPr/>
          <p:nvPr/>
        </p:nvSpPr>
        <p:spPr>
          <a:xfrm>
            <a:off x="6126480" y="100584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65D"/>
                </a:solidFill>
              </a:rPr>
              <a:t>🏢 For BelPak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126480" y="1371600"/>
            <a:ext cx="49377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</a:rPr>
              <a:t>• Which facility for Toyota?
</a:t>
            </a:r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</a:rPr>
              <a:t>• Appetite for hazmat investment?
</a:t>
            </a:r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</a:rPr>
              <a:t>• Current certification status?
</a:t>
            </a:r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</a:rPr>
              <a:t>• Subaru entity details?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657600"/>
            <a:ext cx="10789920" cy="548640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74904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</a:rPr>
              <a:t>Recommended Next Step: Phase 0 Discovery engagement to answer these questions before committing to full certification project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45720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A623"/>
                </a:solidFill>
              </a:rPr>
              <a:t>V</a:t>
            </a:r>
            <a:pPr indent="0" marL="0">
              <a:buNone/>
            </a:pPr>
            <a:r>
              <a:rPr lang="en-US" sz="1400" b="1" baseline="30000" dirty="0">
                <a:solidFill>
                  <a:srgbClr val="F5A623"/>
                </a:solidFill>
              </a:rPr>
              <a:t>+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822960" y="45720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36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Strategic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36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Value+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515600" y="4572000"/>
            <a:ext cx="914400" cy="320040"/>
          </a:xfrm>
          <a:prstGeom prst="rect">
            <a:avLst/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BELPAK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155680" y="45720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365D"/>
                </a:solidFill>
              </a:rPr>
              <a:t>Strategic Value+ team is ready to support BelPak's Toyota qualification journey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5303520" cy="1828800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0584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65D"/>
                </a:solidFill>
              </a:rPr>
              <a:t>👥 SV+ Team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371600"/>
            <a:ext cx="49377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</a:rPr>
              <a:t>• Nelinia Varenas - CEO
</a:t>
            </a:r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</a:rPr>
              <a:t>• Roy Dickan - CRO
</a:t>
            </a:r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</a:rPr>
              <a:t>• Dave McFarland - Strategic Advisor
</a:t>
            </a:r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</a:rPr>
              <a:t>• Certification Partners - TBD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943600" y="914400"/>
            <a:ext cx="5303520" cy="1828800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8" name="Text 6"/>
          <p:cNvSpPr/>
          <p:nvPr/>
        </p:nvSpPr>
        <p:spPr>
          <a:xfrm>
            <a:off x="6126480" y="100584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65D"/>
                </a:solidFill>
              </a:rPr>
              <a:t>📋 Immediate Next Steps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126480" y="1371600"/>
            <a:ext cx="49377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</a:rPr>
              <a:t>✓ Review this brief with BelPak leadership
</a:t>
            </a:r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</a:rPr>
              <a:t>✓ Schedule discovery call
</a:t>
            </a:r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</a:rPr>
              <a:t>✓ Gather Subaru relationship details
</a:t>
            </a:r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</a:rPr>
              <a:t>✓ Assess Toyota interest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926080"/>
            <a:ext cx="10789920" cy="914400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017520"/>
            <a:ext cx="10424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65D"/>
                </a:solidFill>
              </a:rPr>
              <a:t>🤝 BelPak Leadership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333756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</a:rPr>
              <a:t>Henry Hicks III - Revenue Growth  |  Anthony [Last Name] - Operating Partner (Red Arts)  |  Dawn Statsney - Chief HR Officer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45720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A623"/>
                </a:solidFill>
              </a:rPr>
              <a:t>V</a:t>
            </a:r>
            <a:pPr indent="0" marL="0">
              <a:buNone/>
            </a:pPr>
            <a:r>
              <a:rPr lang="en-US" sz="1400" b="1" baseline="30000" dirty="0">
                <a:solidFill>
                  <a:srgbClr val="F5A623"/>
                </a:solidFill>
              </a:rPr>
              <a:t>+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822960" y="45720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36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Strategic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36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Value+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515600" y="4572000"/>
            <a:ext cx="914400" cy="320040"/>
          </a:xfrm>
          <a:prstGeom prst="rect">
            <a:avLst/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BELPAK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1155680" y="45720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0" y="1371600"/>
            <a:ext cx="3657600" cy="457200"/>
          </a:xfrm>
          <a:prstGeom prst="rect">
            <a:avLst/>
          </a:prstGeom>
          <a:solidFill>
            <a:srgbClr val="F5A623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BELPAK × TOYOTA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14400" y="201168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A365D"/>
                </a:solidFill>
              </a:rPr>
              <a:t>Thank You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5029200" y="2834640"/>
            <a:ext cx="1828800" cy="7315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30175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4A5568"/>
                </a:solidFill>
              </a:rPr>
              <a:t>Ready to Begin Discovery?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14400" y="38404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18096"/>
                </a:solidFill>
              </a:rPr>
              <a:t>Strategic Value+ Solutions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718096"/>
                </a:solidFill>
              </a:rPr>
              <a:t>Nelinia Varenas, CEO | Roy Dickan, CRO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45720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A623"/>
                </a:solidFill>
              </a:rPr>
              <a:t>V</a:t>
            </a:r>
            <a:pPr indent="0" marL="0">
              <a:buNone/>
            </a:pPr>
            <a:r>
              <a:rPr lang="en-US" sz="1400" b="1" baseline="30000" dirty="0">
                <a:solidFill>
                  <a:srgbClr val="F5A623"/>
                </a:solidFill>
              </a:rPr>
              <a:t>+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822960" y="45720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36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Strategic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36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Value+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515600" y="4572000"/>
            <a:ext cx="914400" cy="320040"/>
          </a:xfrm>
          <a:prstGeom prst="rect">
            <a:avLst/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BELPAK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1155680" y="45720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8288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V2 - REVISED PRESENTATION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914400" y="2468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5A623"/>
                </a:solidFill>
              </a:rPr>
              <a:t>Updated with feedback and refinements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155680" y="45720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0" y="1371600"/>
            <a:ext cx="3657600" cy="457200"/>
          </a:xfrm>
          <a:prstGeom prst="rect">
            <a:avLst/>
          </a:prstGeom>
          <a:solidFill>
            <a:srgbClr val="F5A623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BELPAK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201168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A365D"/>
                </a:solidFill>
              </a:rPr>
              <a:t>Toyota Battery Manufacturing NC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5029200" y="2834640"/>
            <a:ext cx="1828800" cy="7315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30175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A5568"/>
                </a:solidFill>
              </a:rPr>
              <a:t>Supplier Qualification Discovery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914400" y="41148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18096"/>
                </a:solidFill>
              </a:rPr>
              <a:t>Prepared by Strategic Value+ Solutions | December 2025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45720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A623"/>
                </a:solidFill>
              </a:rPr>
              <a:t>V</a:t>
            </a:r>
            <a:pPr indent="0" marL="0">
              <a:buNone/>
            </a:pPr>
            <a:r>
              <a:rPr lang="en-US" sz="1400" b="1" baseline="30000" dirty="0">
                <a:solidFill>
                  <a:srgbClr val="F5A623"/>
                </a:solidFill>
              </a:rPr>
              <a:t>+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822960" y="45720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36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Strategic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36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Value+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515600" y="4572000"/>
            <a:ext cx="914400" cy="320040"/>
          </a:xfrm>
          <a:prstGeom prst="rect">
            <a:avLst/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BELPAK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1155680" y="45720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0" y="137160"/>
            <a:ext cx="1188720" cy="228600"/>
          </a:xfrm>
          <a:prstGeom prst="rect">
            <a:avLst/>
          </a:prstGeom>
          <a:solidFill>
            <a:srgbClr val="F5A623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V2 - REVISED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365D"/>
                </a:solidFill>
              </a:rPr>
              <a:t>BelPak brings $400M revenue, 1,000 employees, and 30+ years of OEM experience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5303520" cy="2011680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00584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65D"/>
                </a:solidFill>
              </a:rPr>
              <a:t>🎯 The Opportunity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371600"/>
            <a:ext cx="49377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</a:rPr>
              <a:t>• Contract packaging and logistics services
</a:t>
            </a:r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</a:rPr>
              <a:t>• Embedded operations model proven with Subaru
</a:t>
            </a:r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</a:rPr>
              <a:t>• MBE certification supports Toyota diversity goals
</a:t>
            </a:r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</a:rPr>
              <a:t>• 25+ facilities with national coverage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943600" y="914400"/>
            <a:ext cx="5303520" cy="2011680"/>
          </a:xfrm>
          <a:prstGeom prst="rect">
            <a:avLst/>
          </a:prstGeom>
          <a:solidFill>
            <a:srgbClr val="FFF5EB"/>
          </a:solidFill>
          <a:ln/>
        </p:spPr>
      </p:sp>
      <p:sp>
        <p:nvSpPr>
          <p:cNvPr id="9" name="Text 7"/>
          <p:cNvSpPr/>
          <p:nvPr/>
        </p:nvSpPr>
        <p:spPr>
          <a:xfrm>
            <a:off x="6126480" y="100584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D8936"/>
                </a:solidFill>
              </a:rPr>
              <a:t>⚠️ Key Gaps to Address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126480" y="1371600"/>
            <a:ext cx="49377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</a:rPr>
              <a:t>• No hazmat experience - critical for battery handling
</a:t>
            </a:r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</a:rPr>
              <a:t>• ISO 9001/IATF 16949 certifications required
</a:t>
            </a:r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</a:rPr>
              <a:t>• Battery packaging expertise needs development
</a:t>
            </a:r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</a:rPr>
              <a:t>• Toyota interest in outsourcing not yet confirmed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3108960"/>
            <a:ext cx="10789920" cy="731520"/>
          </a:xfrm>
          <a:prstGeom prst="rect">
            <a:avLst/>
          </a:prstGeom>
          <a:solidFill>
            <a:srgbClr val="FFF5EB"/>
          </a:solidFill>
          <a:ln/>
        </p:spPr>
      </p:sp>
      <p:sp>
        <p:nvSpPr>
          <p:cNvPr id="12" name="Shape 10"/>
          <p:cNvSpPr/>
          <p:nvPr/>
        </p:nvSpPr>
        <p:spPr>
          <a:xfrm>
            <a:off x="457200" y="3108960"/>
            <a:ext cx="45720" cy="731520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154680"/>
            <a:ext cx="10424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D8936"/>
                </a:solidFill>
              </a:rPr>
              <a:t>Critical Question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" y="338328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</a:rPr>
              <a:t>Does Toyota intend to outsource packaging &amp; logistics? This must be validated before proceeding.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45720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A623"/>
                </a:solidFill>
              </a:rPr>
              <a:t>V</a:t>
            </a:r>
            <a:pPr indent="0" marL="0">
              <a:buNone/>
            </a:pPr>
            <a:r>
              <a:rPr lang="en-US" sz="1400" b="1" baseline="30000" dirty="0">
                <a:solidFill>
                  <a:srgbClr val="F5A623"/>
                </a:solidFill>
              </a:rPr>
              <a:t>+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822960" y="45720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36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Strategic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36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Value+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515600" y="4572000"/>
            <a:ext cx="914400" cy="320040"/>
          </a:xfrm>
          <a:prstGeom prst="rect">
            <a:avLst/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BELPAK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1155680" y="45720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365D"/>
                </a:solidFill>
              </a:rPr>
              <a:t>BelPak's 8 competitive advantages position them as Toyota's ideal partner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2560320" cy="1097280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0584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A365D"/>
                </a:solidFill>
              </a:rPr>
              <a:t>25+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</a:rPr>
              <a:t>Facilities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0" y="914400"/>
            <a:ext cx="2560320" cy="1097280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8" name="Text 6"/>
          <p:cNvSpPr/>
          <p:nvPr/>
        </p:nvSpPr>
        <p:spPr>
          <a:xfrm>
            <a:off x="3200400" y="100584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A365D"/>
                </a:solidFill>
              </a:rPr>
              <a:t>1,000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3200400" y="15544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</a:rPr>
              <a:t>Employees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943600" y="914400"/>
            <a:ext cx="2560320" cy="1097280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0" y="100584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A365D"/>
                </a:solidFill>
              </a:rPr>
              <a:t>99.6%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5943600" y="15544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</a:rPr>
              <a:t>OTIF Rate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686800" y="914400"/>
            <a:ext cx="2560320" cy="1097280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0" y="100584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A365D"/>
                </a:solidFill>
              </a:rPr>
              <a:t>45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8686800" y="15544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</a:rPr>
              <a:t>Day Standup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2194560"/>
            <a:ext cx="10789920" cy="1828800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2286000"/>
            <a:ext cx="10424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65D"/>
                </a:solidFill>
              </a:rPr>
              <a:t>8 Competitive Advantages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0080" y="2651760"/>
            <a:ext cx="10424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</a:rPr>
              <a:t>1. $400M revenue scale  |  2. 1,000+ employees  |  3. 30+ years OEM experience  |  4. Proven Subaru relationship
</a:t>
            </a:r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</a:rPr>
              <a:t>5. 25+ facilities nationwide  |  6. MBE certification  |  7. 99.6% OTIF rate  |  8. 45-day standup capability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45720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A623"/>
                </a:solidFill>
              </a:rPr>
              <a:t>V</a:t>
            </a:r>
            <a:pPr indent="0" marL="0">
              <a:buNone/>
            </a:pPr>
            <a:r>
              <a:rPr lang="en-US" sz="1400" b="1" baseline="30000" dirty="0">
                <a:solidFill>
                  <a:srgbClr val="F5A623"/>
                </a:solidFill>
              </a:rPr>
              <a:t>+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822960" y="45720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36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Strategic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36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Value+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515600" y="4572000"/>
            <a:ext cx="914400" cy="320040"/>
          </a:xfrm>
          <a:prstGeom prst="rect">
            <a:avLst/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BELPAK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155680" y="45720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0" y="1371600"/>
            <a:ext cx="3657600" cy="457200"/>
          </a:xfrm>
          <a:prstGeom prst="rect">
            <a:avLst/>
          </a:prstGeom>
          <a:solidFill>
            <a:srgbClr val="F5A623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BELPAK × TOYOTA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14400" y="201168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A365D"/>
                </a:solidFill>
              </a:rPr>
              <a:t>Thank You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5029200" y="2834640"/>
            <a:ext cx="1828800" cy="7315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30175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4A5568"/>
                </a:solidFill>
              </a:rPr>
              <a:t>Ready to Begin Discovery?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14400" y="38404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18096"/>
                </a:solidFill>
              </a:rPr>
              <a:t>Strategic Value+ Solutions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718096"/>
                </a:solidFill>
              </a:rPr>
              <a:t>Nelinia Varenas, CEO | Roy Dickan, CRO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45720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A623"/>
                </a:solidFill>
              </a:rPr>
              <a:t>V</a:t>
            </a:r>
            <a:pPr indent="0" marL="0">
              <a:buNone/>
            </a:pPr>
            <a:r>
              <a:rPr lang="en-US" sz="1400" b="1" baseline="30000" dirty="0">
                <a:solidFill>
                  <a:srgbClr val="F5A623"/>
                </a:solidFill>
              </a:rPr>
              <a:t>+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822960" y="45720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36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Strategic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365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Value+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515600" y="4572000"/>
            <a:ext cx="914400" cy="320040"/>
          </a:xfrm>
          <a:prstGeom prst="rect">
            <a:avLst/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BELPAK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1155680" y="45720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Strategic Value Plus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BelPak - Toyota Battery Manufacturing NC Supplier Qualification</dc:title>
  <dc:subject>PptxGenJS Presentation</dc:subject>
  <dc:creator>Strategic Value Plus</dc:creator>
  <cp:lastModifiedBy>Strategic Value Plus</cp:lastModifiedBy>
  <cp:revision>1</cp:revision>
  <dcterms:created xsi:type="dcterms:W3CDTF">2025-12-21T23:01:07Z</dcterms:created>
  <dcterms:modified xsi:type="dcterms:W3CDTF">2025-12-21T23:01:07Z</dcterms:modified>
</cp:coreProperties>
</file>